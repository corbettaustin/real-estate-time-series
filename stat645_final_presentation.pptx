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2" d="100"/>
          <a:sy n="52" d="100"/>
        </p:scale>
        <p:origin x="108" y="9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rbett Austin" userId="6e2aef696e10b45d" providerId="LiveId" clId="{2D3C04AC-98DE-4A19-AB6F-4EF5262B2313}"/>
    <pc:docChg chg="modSld">
      <pc:chgData name="Corbett Austin" userId="6e2aef696e10b45d" providerId="LiveId" clId="{2D3C04AC-98DE-4A19-AB6F-4EF5262B2313}" dt="2026-06-05T13:29:15.945" v="2" actId="1076"/>
      <pc:docMkLst>
        <pc:docMk/>
      </pc:docMkLst>
      <pc:sldChg chg="modSp mod">
        <pc:chgData name="Corbett Austin" userId="6e2aef696e10b45d" providerId="LiveId" clId="{2D3C04AC-98DE-4A19-AB6F-4EF5262B2313}" dt="2026-06-05T13:29:15.945" v="2" actId="1076"/>
        <pc:sldMkLst>
          <pc:docMk/>
          <pc:sldMk cId="0" sldId="259"/>
        </pc:sldMkLst>
        <pc:spChg chg="mod">
          <ac:chgData name="Corbett Austin" userId="6e2aef696e10b45d" providerId="LiveId" clId="{2D3C04AC-98DE-4A19-AB6F-4EF5262B2313}" dt="2026-06-05T13:29:15.945" v="2" actId="1076"/>
          <ac:spMkLst>
            <pc:docMk/>
            <pc:sldMk cId="0" sldId="259"/>
            <ac:spMk id="4" creationId="{00000000-0000-0000-0000-000000000000}"/>
          </ac:spMkLst>
        </pc:spChg>
      </pc:sldChg>
      <pc:sldChg chg="modSp mod">
        <pc:chgData name="Corbett Austin" userId="6e2aef696e10b45d" providerId="LiveId" clId="{2D3C04AC-98DE-4A19-AB6F-4EF5262B2313}" dt="2026-06-05T13:23:06.082" v="0" actId="1076"/>
        <pc:sldMkLst>
          <pc:docMk/>
          <pc:sldMk cId="0" sldId="264"/>
        </pc:sldMkLst>
        <pc:spChg chg="mod">
          <ac:chgData name="Corbett Austin" userId="6e2aef696e10b45d" providerId="LiveId" clId="{2D3C04AC-98DE-4A19-AB6F-4EF5262B2313}" dt="2026-06-05T13:23:06.082" v="0" actId="1076"/>
          <ac:spMkLst>
            <pc:docMk/>
            <pc:sldMk cId="0" sldId="264"/>
            <ac:spMk id="7" creationId="{00000000-0000-0000-0000-000000000000}"/>
          </ac:spMkLst>
        </pc:spChg>
      </pc:sldChg>
      <pc:sldChg chg="modSp mod">
        <pc:chgData name="Corbett Austin" userId="6e2aef696e10b45d" providerId="LiveId" clId="{2D3C04AC-98DE-4A19-AB6F-4EF5262B2313}" dt="2026-06-05T13:25:54.881" v="1" actId="1076"/>
        <pc:sldMkLst>
          <pc:docMk/>
          <pc:sldMk cId="0" sldId="266"/>
        </pc:sldMkLst>
        <pc:spChg chg="mod">
          <ac:chgData name="Corbett Austin" userId="6e2aef696e10b45d" providerId="LiveId" clId="{2D3C04AC-98DE-4A19-AB6F-4EF5262B2313}" dt="2026-06-05T13:25:54.881" v="1" actId="1076"/>
          <ac:spMkLst>
            <pc:docMk/>
            <pc:sldMk cId="0" sldId="266"/>
            <ac:spMk id="7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126480"/>
            <a:ext cx="12191695" cy="54864"/>
          </a:xfrm>
          <a:prstGeom prst="rect">
            <a:avLst/>
          </a:prstGeom>
          <a:solidFill>
            <a:srgbClr val="C8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CADCFC"/>
                </a:solidFill>
                <a:latin typeface="Calibri"/>
              </a:rPr>
              <a:t>STAT 645 - Time Series Forecasting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515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dirty="0">
                <a:solidFill>
                  <a:srgbClr val="FFFFFF"/>
                </a:solidFill>
                <a:latin typeface="Calibri"/>
              </a:rPr>
              <a:t>Forecasting Median Listing Price</a:t>
            </a:r>
          </a:p>
          <a:p>
            <a:pPr algn="l"/>
            <a:r>
              <a:rPr sz="4400" b="1" dirty="0">
                <a:solidFill>
                  <a:srgbClr val="FFFFFF"/>
                </a:solidFill>
                <a:latin typeface="Calibri"/>
              </a:rPr>
              <a:t>in Rhode Island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CADCFC"/>
                </a:solidFill>
                <a:latin typeface="Calibri"/>
              </a:rPr>
              <a:t>FRED series MEDLISPRIRI  -  monthly, Jul 2016 to Mar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206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Group 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5321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ADCFC"/>
                </a:solidFill>
                <a:latin typeface="Calibri"/>
              </a:rPr>
              <a:t>Drexel University  -  Final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dirty="0">
                <a:solidFill>
                  <a:srgbClr val="1E2761"/>
                </a:solidFill>
                <a:latin typeface="Calibri"/>
              </a:rPr>
              <a:t>The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dirty="0">
                <a:solidFill>
                  <a:srgbClr val="555F6D"/>
                </a:solidFill>
                <a:latin typeface="Calibri"/>
              </a:rPr>
              <a:t>FRED MEDLISPRIRI  -  monthly median listing price, Rhode Island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0292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dirty="0">
                <a:solidFill>
                  <a:srgbClr val="1A1A1A"/>
                </a:solidFill>
                <a:latin typeface="Calibri"/>
              </a:rPr>
              <a:t>•   Source: Zillow, distributed by St. Louis Fed (FRED)</a:t>
            </a:r>
          </a:p>
          <a:p>
            <a:pPr algn="l">
              <a:spcAft>
                <a:spcPts val="600"/>
              </a:spcAft>
            </a:pPr>
            <a:r>
              <a:rPr sz="1800" dirty="0">
                <a:solidFill>
                  <a:srgbClr val="1A1A1A"/>
                </a:solidFill>
                <a:latin typeface="Calibri"/>
              </a:rPr>
              <a:t>•   Frequency: monthly</a:t>
            </a:r>
          </a:p>
          <a:p>
            <a:pPr algn="l">
              <a:spcAft>
                <a:spcPts val="600"/>
              </a:spcAft>
            </a:pPr>
            <a:r>
              <a:rPr sz="1800" dirty="0">
                <a:solidFill>
                  <a:srgbClr val="1A1A1A"/>
                </a:solidFill>
                <a:latin typeface="Calibri"/>
              </a:rPr>
              <a:t>•   Window: Jul 2016 - Mar 2026  (n = 117)</a:t>
            </a:r>
          </a:p>
          <a:p>
            <a:pPr algn="l">
              <a:spcAft>
                <a:spcPts val="600"/>
              </a:spcAft>
            </a:pPr>
            <a:r>
              <a:rPr sz="1800" dirty="0">
                <a:solidFill>
                  <a:srgbClr val="1A1A1A"/>
                </a:solidFill>
                <a:latin typeface="Calibri"/>
              </a:rPr>
              <a:t>•   Range: $314k - $599k  -  ~90 percent expansion</a:t>
            </a:r>
          </a:p>
          <a:p>
            <a:pPr algn="l">
              <a:spcAft>
                <a:spcPts val="600"/>
              </a:spcAft>
            </a:pPr>
            <a:r>
              <a:rPr sz="1800" dirty="0">
                <a:solidFill>
                  <a:srgbClr val="1A1A1A"/>
                </a:solidFill>
                <a:latin typeface="Calibri"/>
              </a:rPr>
              <a:t>•   Captures 2020 - 2024 boom and 2025 - 2026 softening</a:t>
            </a:r>
          </a:p>
          <a:p>
            <a:pPr algn="l">
              <a:spcAft>
                <a:spcPts val="600"/>
              </a:spcAft>
            </a:pPr>
            <a:r>
              <a:rPr sz="1800" dirty="0">
                <a:solidFill>
                  <a:srgbClr val="1A1A1A"/>
                </a:solidFill>
                <a:latin typeface="Calibri"/>
              </a:rPr>
              <a:t>•   No missing observations, no gaps</a:t>
            </a:r>
          </a:p>
        </p:txBody>
      </p:sp>
      <p:pic>
        <p:nvPicPr>
          <p:cNvPr id="7" name="Picture 6" descr="01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325880"/>
            <a:ext cx="5943600" cy="3474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52160" y="4983480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555F6D"/>
                </a:solidFill>
                <a:latin typeface="Calibri"/>
              </a:rPr>
              <a:t>Strong trend + 2020 acceleration + 2025 reversal.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dirty="0">
                <a:solidFill>
                  <a:srgbClr val="1E2761"/>
                </a:solidFill>
                <a:latin typeface="Calibri"/>
              </a:rPr>
              <a:t>Trend and seasonality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dirty="0">
                <a:solidFill>
                  <a:srgbClr val="555F6D"/>
                </a:solidFill>
                <a:latin typeface="Calibri"/>
              </a:rPr>
              <a:t>STL decomposition isolates trend, yearly season, and remainder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02_season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5669280" cy="3383280"/>
          </a:xfrm>
          <a:prstGeom prst="rect">
            <a:avLst/>
          </a:prstGeom>
        </p:spPr>
      </p:pic>
      <p:pic>
        <p:nvPicPr>
          <p:cNvPr id="7" name="Picture 6" descr="03_s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80160"/>
            <a:ext cx="5669280" cy="4937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4754880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555F6D"/>
                </a:solidFill>
                <a:latin typeface="Calibri"/>
              </a:rPr>
              <a:t>Mild but consistent annual pattern - prices firm into summer.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dirty="0">
                <a:solidFill>
                  <a:srgbClr val="1E2761"/>
                </a:solidFill>
                <a:latin typeface="Calibri"/>
              </a:rPr>
              <a:t>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1318" y="728907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555F6D"/>
                </a:solidFill>
                <a:latin typeface="Calibri"/>
              </a:rPr>
              <a:t>Hold out the last 12 months (~10 percent), fit every model family from class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04_train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6035040" cy="3474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75120" y="128016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Calibri"/>
              </a:rPr>
              <a:t>Candidate models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1691640"/>
            <a:ext cx="5212080" cy="749808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675120" y="1691640"/>
            <a:ext cx="73152" cy="74980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03720" y="1746504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Toolbox baselines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2093976"/>
            <a:ext cx="5212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Mean, Naive, SNaive, Drift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0" y="2624328"/>
            <a:ext cx="5212080" cy="749808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675120" y="2624328"/>
            <a:ext cx="73152" cy="74980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03720" y="2679192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TSLM regression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3026664"/>
            <a:ext cx="5212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trend + season, trend + Fourier(K=2)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0" y="3557016"/>
            <a:ext cx="5212080" cy="749808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675120" y="3557016"/>
            <a:ext cx="73152" cy="74980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03720" y="361188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ETS family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3959352"/>
            <a:ext cx="5212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M-A-M, damped A-Ad-A, log-ETS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4489704"/>
            <a:ext cx="5212080" cy="749808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675120" y="4489704"/>
            <a:ext cx="73152" cy="74980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03720" y="4544568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ARIMA family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4892040"/>
            <a:ext cx="5212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auto, seasonal (1,1,1)(0,1,1)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5120" y="5422392"/>
            <a:ext cx="5212080" cy="749808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675120" y="5422392"/>
            <a:ext cx="73152" cy="74980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903720" y="5477255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STL + 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5824728"/>
            <a:ext cx="5212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decomposition with ETS on adjusted series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493776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555F6D"/>
                </a:solidFill>
                <a:latin typeface="Calibri"/>
              </a:rPr>
              <a:t>Holdout: last 12 months ; metrics: RMSE, MAE, MAPE, MASE.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dirty="0">
                <a:solidFill>
                  <a:srgbClr val="1E2761"/>
                </a:solidFill>
                <a:latin typeface="Calibri"/>
              </a:rPr>
              <a:t>Holdout forecasts - all candidates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dirty="0">
                <a:solidFill>
                  <a:srgbClr val="555F6D"/>
                </a:solidFill>
                <a:latin typeface="Calibri"/>
              </a:rPr>
              <a:t>Visual check before scoring with accuracy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05_forecasts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1106424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Calibri"/>
              </a:rPr>
              <a:t>Best three models on the holdout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555F6D"/>
                </a:solidFill>
                <a:latin typeface="Calibri"/>
              </a:rPr>
              <a:t>Zoomed view of the leading candidates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05b_best3_fore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1106424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dirty="0">
                <a:solidFill>
                  <a:srgbClr val="1E2761"/>
                </a:solidFill>
                <a:latin typeface="Calibri"/>
              </a:rPr>
              <a:t>Forecast accuracy on the 12-month holdout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dirty="0">
                <a:solidFill>
                  <a:srgbClr val="555F6D"/>
                </a:solidFill>
                <a:latin typeface="Calibri"/>
              </a:rPr>
              <a:t>Sorted by RMSE - smaller is better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69848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2793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RMSE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MAE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MAPE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MASE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RMSSE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793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ETS_MAM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12,658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11,346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1.97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0.39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0.34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793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ARIMA_man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14,021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12,014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2.14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0.41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0.38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2793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TSLM_seas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18,694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17,446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3.06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0.51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2793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TSLM_four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18,768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17,484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3.06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0.60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0.51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2793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ARIMA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18,859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16,934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2.93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0.58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0.51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2793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ETS_log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19,175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15,817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2.72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0.54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0.52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2793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ETS_AAdA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20,952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17,292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2.97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0.57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2793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SNaive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24,688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20,552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3.65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0.70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0.67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2793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STL_ETS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31,253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28,547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4.95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0.98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0.85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2793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Drift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32,930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30,174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5.24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1.03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0.89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2793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Naive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36,394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28,276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4.82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0.97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2804"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1A1A1A"/>
                          </a:solidFill>
                          <a:latin typeface="Calibri"/>
                        </a:rPr>
                        <a:t>Mean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146,366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144,483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25.32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4.96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dirty="0">
                          <a:solidFill>
                            <a:srgbClr val="1A1A1A"/>
                          </a:solidFill>
                          <a:latin typeface="Calibri"/>
                        </a:rPr>
                        <a:t>3.97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Calibri"/>
              </a:rPr>
              <a:t>Judgment calls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555F6D"/>
                </a:solidFill>
                <a:latin typeface="Calibri"/>
              </a:rPr>
              <a:t>Decisions that shaped the final pick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64240" cy="9144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91440" cy="914400"/>
          </a:xfrm>
          <a:prstGeom prst="rect">
            <a:avLst/>
          </a:prstGeom>
          <a:solidFill>
            <a:srgbClr val="C8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5087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Holdout length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56232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12 months satisfies the &gt;=10 percent rubric and exposes one full season.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423160"/>
            <a:ext cx="11064240" cy="9144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2423160"/>
            <a:ext cx="91440" cy="914400"/>
          </a:xfrm>
          <a:prstGeom prst="rect">
            <a:avLst/>
          </a:prstGeom>
          <a:solidFill>
            <a:srgbClr val="C8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25146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ARIMA family included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862072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Chapter 9 added - auto plus a seasonal (1,1,1)(0,1,1); the closest challenger, which confirms the ETS choice rather than overturning 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429000"/>
            <a:ext cx="11064240" cy="9144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" y="3429000"/>
            <a:ext cx="91440" cy="914400"/>
          </a:xfrm>
          <a:prstGeom prst="rect">
            <a:avLst/>
          </a:prstGeom>
          <a:solidFill>
            <a:srgbClr val="C8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35204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Transformation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867912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Guerrero lambda approximately -0.9 is numerically unstable here, so the transformed ETS uses a log scale instead of a raw Box-Cox.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434840"/>
            <a:ext cx="11064240" cy="9144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48640" y="4434840"/>
            <a:ext cx="91440" cy="914400"/>
          </a:xfrm>
          <a:prstGeom prst="rect">
            <a:avLst/>
          </a:prstGeom>
          <a:solidFill>
            <a:srgbClr val="C8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45262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Damped vs. undamped trend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873752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2025 reversal makes undamped trend dangerous over a 12-month horizon - we include A-Ad-A and let accuracy decide.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440680"/>
            <a:ext cx="11064240" cy="9144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48640" y="5440680"/>
            <a:ext cx="91440" cy="914400"/>
          </a:xfrm>
          <a:prstGeom prst="rect">
            <a:avLst/>
          </a:prstGeom>
          <a:solidFill>
            <a:srgbClr val="C8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55321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TSLM Fourier order K=2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879592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Captures the dominant annual cycle with fewer coefficients than 11 monthly dummies.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dirty="0">
                <a:solidFill>
                  <a:srgbClr val="1E2761"/>
                </a:solidFill>
                <a:latin typeface="Calibri"/>
              </a:rPr>
              <a:t>Chosen model: ETS_MAM  -  residual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555F6D"/>
                </a:solidFill>
                <a:latin typeface="Calibri"/>
              </a:rPr>
              <a:t>Innovation residuals, ACF, and distribution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06_residu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7680960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03920" y="1453896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dirty="0">
                <a:solidFill>
                  <a:srgbClr val="1E2761"/>
                </a:solidFill>
                <a:latin typeface="Calibri"/>
              </a:rPr>
              <a:t>Reading the diagnostics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1828800"/>
            <a:ext cx="33832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 ACF: most lags fall within the significance bounds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 Residuals roughly symmetric and centred on zero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 Large residuals cluster in 2020-2022 (COVID market shock)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 Ljung-Box (lag 24, dof 17): chi-sq 29.3, p = 0.0001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 p &lt; 0.05: some residual structure remains, traced to the 2020-22 shock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 Selection rests on holdout accuracy; intervals carry the residual risk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dirty="0">
                <a:solidFill>
                  <a:srgbClr val="1E2761"/>
                </a:solidFill>
                <a:latin typeface="Calibri"/>
              </a:rPr>
              <a:t>12-month forecast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dirty="0">
                <a:solidFill>
                  <a:srgbClr val="555F6D"/>
                </a:solidFill>
                <a:latin typeface="Calibri"/>
              </a:rPr>
              <a:t>Refit on the full series ; 80 percent and 95 percent prediction intervals  -  ETS_MAM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07_final_fore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1106424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dirty="0">
                <a:solidFill>
                  <a:srgbClr val="1E2761"/>
                </a:solidFill>
                <a:latin typeface="Calibri"/>
              </a:rPr>
              <a:t>Conclusions and assumptions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555F6D"/>
                </a:solidFill>
                <a:latin typeface="Calibri"/>
              </a:rPr>
              <a:t>What we found, what we are watching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dirty="0">
                <a:solidFill>
                  <a:srgbClr val="1E2761"/>
                </a:solidFill>
                <a:latin typeface="Calibri"/>
              </a:rPr>
              <a:t>Findings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783080"/>
            <a:ext cx="54864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dirty="0">
                <a:solidFill>
                  <a:srgbClr val="1A1A1A"/>
                </a:solidFill>
                <a:latin typeface="Calibri"/>
              </a:rPr>
              <a:t>•   Chosen model: ETS_MAM</a:t>
            </a:r>
          </a:p>
          <a:p>
            <a:pPr algn="l">
              <a:spcAft>
                <a:spcPts val="600"/>
              </a:spcAft>
            </a:pPr>
            <a:r>
              <a:rPr sz="1500" dirty="0">
                <a:solidFill>
                  <a:srgbClr val="1A1A1A"/>
                </a:solidFill>
                <a:latin typeface="Calibri"/>
              </a:rPr>
              <a:t>•   Beats every baseline and the seasonal ARIMA on RMSE / MAPE</a:t>
            </a:r>
          </a:p>
          <a:p>
            <a:pPr algn="l">
              <a:spcAft>
                <a:spcPts val="600"/>
              </a:spcAft>
            </a:pPr>
            <a:r>
              <a:rPr sz="1500" dirty="0">
                <a:solidFill>
                  <a:srgbClr val="1A1A1A"/>
                </a:solidFill>
                <a:latin typeface="Calibri"/>
              </a:rPr>
              <a:t>•   Residual ACF mostly clean; Ljung-Box flags 2020-22 shock structure</a:t>
            </a:r>
          </a:p>
          <a:p>
            <a:pPr algn="l">
              <a:spcAft>
                <a:spcPts val="600"/>
              </a:spcAft>
            </a:pPr>
            <a:r>
              <a:rPr sz="1500" dirty="0">
                <a:solidFill>
                  <a:srgbClr val="1A1A1A"/>
                </a:solidFill>
                <a:latin typeface="Calibri"/>
              </a:rPr>
              <a:t>•   12-month forecast widens reasonably given the recent regime change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dirty="0">
                <a:solidFill>
                  <a:srgbClr val="1E2761"/>
                </a:solidFill>
                <a:latin typeface="Calibri"/>
              </a:rPr>
              <a:t>Assumptions and caveats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54864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 Only ~10 years of history; one full housing cycle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 2020 - 2022 shock is a large share of the sample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 Forecast assumes no structural break (rates, policy)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 Refit monthly; watch standardised residuals for drift &gt; 2 sigma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555F6D"/>
                </a:solidFill>
                <a:latin typeface="Calibri"/>
              </a:rPr>
              <a:t>Group X  -  STAT 645 Final Project  -  Drexel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609</TotalTime>
  <Words>695</Words>
  <Application>Microsoft Office PowerPoint</Application>
  <PresentationFormat>Widescreen</PresentationFormat>
  <Paragraphs>152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Corbett Austin</cp:lastModifiedBy>
  <cp:revision>1</cp:revision>
  <dcterms:created xsi:type="dcterms:W3CDTF">2013-01-27T09:14:16Z</dcterms:created>
  <dcterms:modified xsi:type="dcterms:W3CDTF">2026-06-05T13:29:26Z</dcterms:modified>
  <cp:category/>
</cp:coreProperties>
</file>